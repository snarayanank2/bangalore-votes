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463040"/>
            <a:ext cx="4937760" cy="4937760"/>
          </a:xfrm>
          <a:prstGeom prst="ellipse">
            <a:avLst/>
          </a:prstGeom>
          <a:solidFill>
            <a:srgbClr val="22265C"/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3291840"/>
            <a:ext cx="2377440" cy="2377440"/>
          </a:xfrm>
          <a:prstGeom prst="ellipse">
            <a:avLst/>
          </a:prstGeom>
          <a:solidFill>
            <a:srgbClr val="22265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29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502920"/>
            <a:ext cx="146304" cy="146304"/>
          </a:xfrm>
          <a:prstGeom prst="ellipse">
            <a:avLst/>
          </a:prstGeom>
          <a:solidFill>
            <a:srgbClr val="C9D6F0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" y="502920"/>
            <a:ext cx="146304" cy="146304"/>
          </a:xfrm>
          <a:prstGeom prst="ellipse">
            <a:avLst/>
          </a:prstGeom>
          <a:solidFill>
            <a:srgbClr val="3E448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GBA ELECTIONS CITIZEN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Bangalore Votes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Security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ward-level election information stays fast, bilingual, indexable and secure — on one VM, with no CDN.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2926080" cy="0"/>
          </a:xfrm>
          <a:prstGeom prst="line">
            <a:avLst/>
          </a:prstGeom>
          <a:noFill/>
          <a:ln w="15875">
            <a:solidFill>
              <a:srgbClr val="4A51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bangalore-votes.opencity.in   ·   architecture decided 17 July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10515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5630" y="1249070"/>
            <a:ext cx="427939" cy="4279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83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Votes · bangalore-votes.opencity.in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pre-election MVP giving Bengaluru citizens trustworthy, ward-level information for the GBA corporator elections: find your post-delimitation ward, read neutral sourced candidate report cards, vote on top-3 local issues, and get voting logistics — registration, voter-ID, booths.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84378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43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Read-heavy &amp; anonymous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traffic never logs in; anonymous read paths have no login wall and must stay fast.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50215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4015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Gated at submit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and issue-voting are visible to all, but require an OTP login that resumes the action in place.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05993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Trusted curators —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go live immediately — provenance on every field, every change in an append-only audit log.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169164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371600"/>
            <a:ext cx="1691640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536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120640" y="2286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wards, city-wide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371600"/>
            <a:ext cx="169164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371600"/>
            <a:ext cx="1691640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536192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7086600" y="22860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— EN &amp; ಕನ್ನಡ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127248"/>
            <a:ext cx="169164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3127248"/>
            <a:ext cx="1691640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918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120640" y="40416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mostly read-only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3127248"/>
            <a:ext cx="169164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3127248"/>
            <a:ext cx="1691640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32918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7086600" y="40416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runs everything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83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VM, four containers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Votes · bangalore-votes.opencity.in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737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64008" cy="1371600"/>
          </a:xfrm>
          <a:prstGeom prst="rect">
            <a:avLst/>
          </a:prstGeom>
          <a:solidFill>
            <a:srgbClr val="4A518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737360"/>
            <a:ext cx="365760" cy="365760"/>
          </a:xfrm>
          <a:prstGeom prst="ellipse">
            <a:avLst/>
          </a:prstGeom>
          <a:solidFill>
            <a:srgbClr val="4A5182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1825142"/>
            <a:ext cx="190195" cy="1901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78992" y="1737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1792" y="2167128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browsers,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WhatsApp-forwarded links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24328" y="1600200"/>
            <a:ext cx="1737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24328" y="1600200"/>
            <a:ext cx="64008" cy="1371600"/>
          </a:xfrm>
          <a:prstGeom prst="rect">
            <a:avLst/>
          </a:prstGeom>
          <a:solidFill>
            <a:srgbClr val="22265C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8920" y="1737360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702" y="1825142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46120" y="1737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88920" y="2167128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micro-cache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· static files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782312" y="1600200"/>
            <a:ext cx="1737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82312" y="1600200"/>
            <a:ext cx="64008" cy="1371600"/>
          </a:xfrm>
          <a:prstGeom prst="rect">
            <a:avLst/>
          </a:prstGeom>
          <a:solidFill>
            <a:srgbClr val="22265C"/>
          </a:solidFill>
          <a:ln/>
        </p:spPr>
      </p:sp>
      <p:sp>
        <p:nvSpPr>
          <p:cNvPr id="20" name="Shape 16"/>
          <p:cNvSpPr/>
          <p:nvPr/>
        </p:nvSpPr>
        <p:spPr>
          <a:xfrm>
            <a:off x="4946904" y="1737360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86" y="1825142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04104" y="1737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46904" y="2167128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SSR (TypeScript,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Node). All routes: pages,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/api, curator, admin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949440" y="1600200"/>
            <a:ext cx="1737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49440" y="1600200"/>
            <a:ext cx="64008" cy="1371600"/>
          </a:xfrm>
          <a:prstGeom prst="rect">
            <a:avLst/>
          </a:prstGeom>
          <a:solidFill>
            <a:srgbClr val="22265C"/>
          </a:solidFill>
          <a:ln/>
        </p:spPr>
      </p:sp>
      <p:sp>
        <p:nvSpPr>
          <p:cNvPr id="26" name="Shape 21"/>
          <p:cNvSpPr/>
          <p:nvPr/>
        </p:nvSpPr>
        <p:spPr>
          <a:xfrm>
            <a:off x="7114032" y="1737360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814" y="1825142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571232" y="17373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114032" y="2167128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database +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(Drizzle ORM)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2231136" y="2286000"/>
            <a:ext cx="347472" cy="0"/>
          </a:xfrm>
          <a:prstGeom prst="line">
            <a:avLst/>
          </a:prstGeom>
          <a:noFill/>
          <a:ln w="28575">
            <a:solidFill>
              <a:srgbClr val="22265C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4398264" y="2286000"/>
            <a:ext cx="347472" cy="0"/>
          </a:xfrm>
          <a:prstGeom prst="line">
            <a:avLst/>
          </a:prstGeom>
          <a:noFill/>
          <a:ln w="28575">
            <a:solidFill>
              <a:srgbClr val="22265C"/>
            </a:solidFill>
            <a:prstDash val="solid"/>
            <a:tailEnd type="triangle"/>
          </a:ln>
        </p:spPr>
      </p:sp>
      <p:sp>
        <p:nvSpPr>
          <p:cNvPr id="32" name="Shape 26"/>
          <p:cNvSpPr/>
          <p:nvPr/>
        </p:nvSpPr>
        <p:spPr>
          <a:xfrm>
            <a:off x="6556248" y="2286000"/>
            <a:ext cx="347472" cy="0"/>
          </a:xfrm>
          <a:prstGeom prst="line">
            <a:avLst/>
          </a:prstGeom>
          <a:noFill/>
          <a:ln w="28575">
            <a:solidFill>
              <a:srgbClr val="22265C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4782312" y="3310128"/>
            <a:ext cx="1737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782312" y="3310128"/>
            <a:ext cx="64008" cy="1051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5" name="Shape 29"/>
          <p:cNvSpPr/>
          <p:nvPr/>
        </p:nvSpPr>
        <p:spPr>
          <a:xfrm>
            <a:off x="4946904" y="3419856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908" y="3498860"/>
            <a:ext cx="171176" cy="17117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67528" y="3419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— cron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4946904" y="3785616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sends · translation</a:t>
            </a:r>
            <a:endParaRPr lang="en-US" sz="9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· sitemaps · backups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650992" y="2999232"/>
            <a:ext cx="0" cy="283464"/>
          </a:xfrm>
          <a:prstGeom prst="line">
            <a:avLst/>
          </a:prstGeom>
          <a:noFill/>
          <a:ln w="25400">
            <a:solidFill>
              <a:srgbClr val="6B7089"/>
            </a:solidFill>
            <a:prstDash val="dash"/>
          </a:ln>
        </p:spPr>
      </p:sp>
      <p:sp>
        <p:nvSpPr>
          <p:cNvPr id="40" name="Text 33"/>
          <p:cNvSpPr/>
          <p:nvPr/>
        </p:nvSpPr>
        <p:spPr>
          <a:xfrm>
            <a:off x="6949440" y="331012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/ Twilio (OTP &amp; campaigns) · Google Geocoding (server-side) · Anthropic API (Kannada MT, affidavit extraction) · restic backup target</a:t>
            </a:r>
            <a:endParaRPr lang="en-US" sz="950" dirty="0"/>
          </a:p>
        </p:txBody>
      </p:sp>
      <p:sp>
        <p:nvSpPr>
          <p:cNvPr id="41" name="Shape 34"/>
          <p:cNvSpPr/>
          <p:nvPr/>
        </p:nvSpPr>
        <p:spPr>
          <a:xfrm>
            <a:off x="457200" y="3310128"/>
            <a:ext cx="4023360" cy="841248"/>
          </a:xfrm>
          <a:prstGeom prst="rect">
            <a:avLst/>
          </a:prstGeom>
          <a:solidFill>
            <a:srgbClr val="EDEADF"/>
          </a:solidFill>
          <a:ln/>
        </p:spPr>
      </p:sp>
      <p:sp>
        <p:nvSpPr>
          <p:cNvPr id="42" name="Text 35"/>
          <p:cNvSpPr/>
          <p:nvPr/>
        </p:nvSpPr>
        <p:spPr>
          <a:xfrm>
            <a:off x="621792" y="3401568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Redis, no queue, no separate API service.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pull CI-built GHCR images and restart — nothing builds on the VM.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83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stack,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Votes · bangalore-votes.opencity.in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81328"/>
            <a:ext cx="384048" cy="384048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964" y="1573500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4813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1792" y="1938528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 SSR monolith (Node adapter, TypeScript). Zero client JS by default — hydrated islands only for modals, maps and lookups.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91840" y="135331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1481328"/>
            <a:ext cx="384048" cy="384048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604" y="1573500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50208" y="14813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56432" y="1938528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via Drizzle. Ward polygons as static GeoJSON + in-memory point-in-polygon with Turf.js — no PostGIS.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135331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1072" y="1481328"/>
            <a:ext cx="384048" cy="384048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244" y="1573500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14813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291072" y="1938528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nginx: TLS, micro-cache for anonymous HTML, per-IP limit_req, compression, security headers.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7200" y="309067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21792" y="3218688"/>
            <a:ext cx="384048" cy="384048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64" y="3310860"/>
            <a:ext cx="199705" cy="19970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2186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21792" y="3675888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(Kannada MT + affidavit extraction) · Google Geocoding · SendGrid / Twilio · MapLibre · Google Analytics.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291840" y="309067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56432" y="3218688"/>
            <a:ext cx="384048" cy="384048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604" y="3310860"/>
            <a:ext cx="199705" cy="19970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50208" y="32186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3456432" y="3675888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unit &amp; route tests · Playwright smoke suite · one k6 load test proving the micro-cache holds election-day volume.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126480" y="309067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91072" y="3218688"/>
            <a:ext cx="384048" cy="384048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244" y="3310860"/>
            <a:ext cx="199705" cy="19970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84848" y="32186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6291072" y="3675888"/>
            <a:ext cx="2231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on a single VM · cron jobs container · structured logs · nightly encrypted restic backups, rehearsed restore.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83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Caching &amp; the election-day spike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Votes · bangalore-votes.opencity.in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04672" y="14173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Micro-cache, no purge machinery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caches anonymous page HTML for ~60 s (results &amp; /data: 5 min). The TTL alone satisfies “curator edits go live immediately.”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9961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677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invariant is enforced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HTML never varies by session: nginx strips the Cookie header on public routes, and a route test asserts no Set-Cookie on public GETs.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1810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strings can't fragment it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key ignores the query string entirely — unknown params can't cache-bust the origin into a DoS. ?src attribution is read client-side.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96849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is client-side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Logged-in users get the same cached markup; three personalized elements swap in from a single GET /api/me.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50792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5897880" y="1417320"/>
            <a:ext cx="2788920" cy="3246120"/>
          </a:xfrm>
          <a:prstGeom prst="rect">
            <a:avLst/>
          </a:prstGeom>
          <a:solidFill>
            <a:srgbClr val="171A44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97880" y="1417320"/>
            <a:ext cx="2788920" cy="6400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ORIGIN 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6126480" y="299008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8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per minute at the absolute ceiling — 369 wards × ~5 pages × 2 languages, each rendered once per TTL. Well within one Node process.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959352"/>
            <a:ext cx="2331720" cy="0"/>
          </a:xfrm>
          <a:prstGeom prst="line">
            <a:avLst/>
          </a:prstGeom>
          <a:noFill/>
          <a:ln w="12700">
            <a:solidFill>
              <a:srgbClr val="3E4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05079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AEB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CDN can slot in front later, unchanged — nginx would then take client IPs from X-Forwarded-For, restricted to the CDN's ranges.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83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English &amp; Kannada: three text layers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Votes · bangalore-votes.opencity.in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public path exists twice — /ward/57 and /kn/ward/57 — hreflang-linked, one cached variant per language.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layer translates at request time; every render is from stored text.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103120"/>
                <a:gridCol w="2697480"/>
                <a:gridCol w="2011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Kannada generated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strings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(en.json / kn.json)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Dev-time script (npm run translate)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Editorial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(Markdown per locale)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Dev-time script; translation hints steer every regeneration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6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Curator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(value_en / value_kn)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publish, via Anthropic API (~5 s, retries via jobs)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A2F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— citizen flags are the correction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0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DEADF"/>
          </a:solidFill>
          <a:ln/>
        </p:spPr>
      </p:sp>
      <p:sp>
        <p:nvSpPr>
          <p:cNvPr id="9" name="Shape 6"/>
          <p:cNvSpPr/>
          <p:nvPr/>
        </p:nvSpPr>
        <p:spPr>
          <a:xfrm>
            <a:off x="621792" y="4105656"/>
            <a:ext cx="402336" cy="402336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53" y="4202217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041648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Publish never blocks on translation.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pending field renders in its authored language with an indicator; official bilingual data and UI strings are never machine-translated.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83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access control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Votes · bangalore-votes.opencity.in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" cy="402336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61" y="1513881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38988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OTP mechanism, all roles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WhatsApp OTP — no passwords. Hashed 6-digit codes, 10-minute expiry, 5 verify attempts per code, then invalidated.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61" y="235512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2231136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signed sessions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cookies (HttpOnly · Secure · SameSite=Lax) with a sliding 1-hour idle timeout for every role; re-auth is the normal OTP flow.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099816"/>
            <a:ext cx="402336" cy="402336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1" y="3196377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307238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middleware, one truth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role and curator ward scope, rejects unsafe methods failing an Origin / Sec-Fetch-Site check; forms carry synchronizer CSRF tokens.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941064"/>
            <a:ext cx="402336" cy="402336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1" y="4037625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4128" y="39136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rate limits</a:t>
            </a:r>
            <a:endParaRPr lang="en-US" sz="12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per-IP limits on /api/* + per-account app limits on OTP, flags and votes + per-destination OTP cooldowns.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263640" y="1417320"/>
            <a:ext cx="2423160" cy="3246120"/>
          </a:xfrm>
          <a:prstGeom prst="rect">
            <a:avLst/>
          </a:prstGeom>
          <a:solidFill>
            <a:srgbClr val="22265C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464808" y="1618488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464808" y="200253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5"/>
          <p:cNvSpPr/>
          <p:nvPr/>
        </p:nvSpPr>
        <p:spPr>
          <a:xfrm>
            <a:off x="6665976" y="1929384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citizen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no account — most traffic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464808" y="267004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17"/>
          <p:cNvSpPr/>
          <p:nvPr/>
        </p:nvSpPr>
        <p:spPr>
          <a:xfrm>
            <a:off x="6665976" y="2596896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citizen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anywhere; votes in home ward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64808" y="333756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19"/>
          <p:cNvSpPr/>
          <p:nvPr/>
        </p:nvSpPr>
        <p:spPr>
          <a:xfrm>
            <a:off x="6665976" y="3264408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curator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instantly; ward-scoped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64808" y="4005072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1"/>
          <p:cNvSpPr/>
          <p:nvPr/>
        </p:nvSpPr>
        <p:spPr>
          <a:xfrm>
            <a:off x="6665976" y="3931920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city-wide; curators &amp; rollback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83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Defense where the threat actually 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Votes · bangalore-votes.opencity.in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64008" cy="1463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81328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1569110"/>
            <a:ext cx="190195" cy="1901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CSRF, in depth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+ Origin / Sec-Fetch-Site checks + form tokens. A forged curator publish is the worst outcome — not optional hardening.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91840" y="135331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91840" y="1353312"/>
            <a:ext cx="64008" cy="1463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1481328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502" y="1569110"/>
            <a:ext cx="190195" cy="19019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0208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abuse &amp; pumping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4747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Per-destination cooldowns (1/min, 5/hr, daily cap) stop SMS pumping where per-IP limits fail; a global send budget with an alarm bounds cost.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135331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353312"/>
            <a:ext cx="64008" cy="1463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Shape 16"/>
          <p:cNvSpPr/>
          <p:nvPr/>
        </p:nvSpPr>
        <p:spPr>
          <a:xfrm>
            <a:off x="6309360" y="1481328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142" y="1569110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84848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amplification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30936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 cache stores only address → ward ID (our conclusion, not Google's data); a daily budget degrades to pincode lookup.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57200" y="309067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090672"/>
            <a:ext cx="64008" cy="1463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Shape 21"/>
          <p:cNvSpPr/>
          <p:nvPr/>
        </p:nvSpPr>
        <p:spPr>
          <a:xfrm>
            <a:off x="640080" y="3218688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" y="3306470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15568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&amp; CSP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008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HSTS, nosniff, strict Referrer-Policy, frame-ancestors 'none'; per-request nonces for the two inline scripts — no unsafe-inline.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91840" y="309067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291840" y="3090672"/>
            <a:ext cx="64008" cy="1463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2" name="Shape 26"/>
          <p:cNvSpPr/>
          <p:nvPr/>
        </p:nvSpPr>
        <p:spPr>
          <a:xfrm>
            <a:off x="3474720" y="3218688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502" y="3306470"/>
            <a:ext cx="190195" cy="19019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50208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rules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347472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text renders as text; source_url must be http(s); JSON-LD escapes &lt;; affidavit PDFs magic-byte-checked, served with nosniff.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6126480" y="3090672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1A2E">
                <a:alpha val="14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26480" y="3090672"/>
            <a:ext cx="64008" cy="1463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8" name="Shape 31"/>
          <p:cNvSpPr/>
          <p:nvPr/>
        </p:nvSpPr>
        <p:spPr>
          <a:xfrm>
            <a:off x="6309360" y="3218688"/>
            <a:ext cx="365760" cy="365760"/>
          </a:xfrm>
          <a:prstGeom prst="ellipse">
            <a:avLst/>
          </a:prstGeom>
          <a:solidFill>
            <a:srgbClr val="22265C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142" y="3306470"/>
            <a:ext cx="190195" cy="19019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784848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6309360" y="3657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pg_dump via restic to India-resident Spaces — encrypted, key off-box, restore rehearsed. RPO 24 h and same-region: accepted trades.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108960"/>
            <a:ext cx="4206240" cy="4206240"/>
          </a:xfrm>
          <a:prstGeom prst="ellipse">
            <a:avLst/>
          </a:prstGeom>
          <a:solidFill>
            <a:srgbClr val="2226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76656" y="2834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OPEN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 trade-offs, recorded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61" y="1513881"/>
            <a:ext cx="209215" cy="2092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38988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is app-level append-only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compromise defeats it. “Immutable” holds against application bugs and curator action; the encrypted nightly backups are the only historical copies. Hash chains were considered and rejected.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58568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61" y="235512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2231136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mitigated not eliminated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Affidavit PDFs and curator text are adversarial inputs to the MT/extraction calls. Escaping, a fixed extraction schema, visible provenance and the citizen-flag correction path carry the weight — no further machinery.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09981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1" y="3196377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4128" y="3072384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session policy for every role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1-hour idle timeout instead of per-role lifetimes, revocation on role change, or login notifications. The short timeout carries the weight.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94106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1" y="4037625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4128" y="3913632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is the posture</a:t>
            </a:r>
            <a:endParaRPr lang="en-US" sz="12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C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Redis, no queue, no PostGIS, no CDN at launch. Each was weighed; each can slot in later without redesign. Fewer moving parts is the security choice, too.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45720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docs/architecture.md · docs/prd.md §14 (locked decisions)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Bangalore Votes — Architecture and Security</dc:title>
  <dc:subject>PptxGenJS Presentation</dc:subject>
  <dc:creator>Opencity</dc:creator>
  <cp:lastModifiedBy>Opencity</cp:lastModifiedBy>
  <cp:revision>1</cp:revision>
  <dcterms:created xsi:type="dcterms:W3CDTF">2026-07-17T10:48:45Z</dcterms:created>
  <dcterms:modified xsi:type="dcterms:W3CDTF">2026-07-17T10:48:45Z</dcterms:modified>
</cp:coreProperties>
</file>